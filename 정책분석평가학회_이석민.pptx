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가중합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문재인</c:v>
                  </c:pt>
                  <c:pt idx="1">
                    <c:v>이재명†</c:v>
                  </c:pt>
                  <c:pt idx="2">
                    <c:v>노무현</c:v>
                  </c:pt>
                  <c:pt idx="3">
                    <c:v>이명박</c:v>
                  </c:pt>
                  <c:pt idx="4">
                    <c:v>박근혜</c:v>
                  </c:pt>
                  <c:pt idx="5">
                    <c:v>윤석열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11</c:v>
                </c:pt>
                <c:pt idx="2">
                  <c:v>8</c:v>
                </c:pt>
                <c:pt idx="3">
                  <c:v>5</c:v>
                </c:pt>
                <c:pt idx="4">
                  <c:v>-3</c:v>
                </c:pt>
                <c:pt idx="5">
                  <c:v>-7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한국 정부의 적응적 거버넌스</a:t>
            </a:r>
            <a:endParaRPr lang="en-US" sz="3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비교연구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 편향 통제를 위한 다중 지표 설계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7432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이석민  |  한신대학교 공공인재빅데이터융합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정책분석평가학회 춘계학술대회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연구 배경 및 목적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520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■ 문제 인식: 축적 편향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법률·제도는 폐지되지 않는 한 다음 정부로 이월 → 후대 정부 구조적 유리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Pierson(2004): 수확체증과 경로의존 → 제도 축적은 필연적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WGI·V-Dem 등 국제 지표는 저량(stock)만 반영, 유량(flow) 미반영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현직·최근 퇴임 대통령 비교 연구 자체의 위축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■ 연구 질문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i="1" dirty="0">
                <a:solidFill>
                  <a:srgbClr val="1E293B"/>
                </a:solidFill>
              </a:rPr>
              <a:t>  ○ 축적 편향을 통제한 뒤, 노무현~이재명 6개 정부의 적응적 거버넌스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i="1" dirty="0">
                <a:solidFill>
                  <a:srgbClr val="1E293B"/>
                </a:solidFill>
              </a:rPr>
              <a:t>     독자적 기여는 어떠하며, 정부 간 차이는 무엇인가?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■ 해결 전략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T/I/D/E 변동 요인 분류: 시대적 추세(T)·외부 충격(E)을 분리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AGLI 저량-유량 분리: 각 정부의 독자적 기여 식별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5개 독립 지표 삼각검증 + ACW 6차원 파생 프로파일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5개 이질적 LLM × 3라운드 반복 측정으로 코더 신뢰도 확보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3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이론적 배경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520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■ 적응적 거버넌스 이론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Holling(1978) → Folke et al.(2005) → Gupta et al.(2010) ACW 6차원 22기준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■ 제도 변화 이론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Hall(1993): 1차수(설정값) → 2차수(도구) → 3차수(패러다임)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Streeck &amp; Thelen(2005): 층화·표류·전환·대체·소진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■ 축적 편향·경로의존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Pierson(2004): 수확체증 → 후대 정부 유리 → 저량-유량 분리 필요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■ 공식 규칙 vs 운영 규칙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Ostrom(2005) IAD: 같은 법이라도 정부별 운영 수준 상이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Dietz et al.(2003): 다층적 제도·분석적 심의·제도 적합성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■ 불확실성 하 정책 설계 및 위기 대응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Haasnoot et al.(2013) DAPP, Friedman(1960) 시차 → CRS 바탕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Argyris &amp; Schon(1978): 이중고리학습이 적응 역량의 핵심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</a:rPr>
              <a:t>■ 시대 상대 평가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2003년과 2025년의 정책 도구 상이 → 능력 부재 vs 기회 부재 구분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  ○ T/I/D/E에서 시대적 추세(T)를 분리하는 이유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4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방법론 개요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260604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원리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질적 판단의 체계적 양적화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이질적 LLM 독립 채점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3라운드 반복 측정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143000"/>
            <a:ext cx="260604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원리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지표 삼각검증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독립 지표 + 1개 파생 프로파일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 타당도 확인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60604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원리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 편향 체계적 통제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T/E 제외, 유량 채택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WGI 추세제거 잔차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19456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이론 기반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코딩 방식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자료원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T/I/D/E 가중합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 (1993)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연구자 + AI 검증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법률·조직·위기 행위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AGLI (0-4)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Ostrom IAD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직접 채점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법률 존재+운영 수준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Lowi 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Lowi (1972)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연구자 + AI 검증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국정과제 595건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CRS (0-4)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Friedman 시차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직접 채점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위기 20건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WGI 잔차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공개 데이터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WGI 2000-2023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파생: ACW 프로파일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Gupta et al. (2010)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5개 지표 → 6차원 배열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5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다중 AI 스코어링 방법론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이질적 LLM 코더 패널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 (OpenAI)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(Anthropic)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Grok-4-1 (xAI)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 (Google)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HyperCLOVA HCX-007 (NAVER)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채점 프로토콜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0.2 통일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블라인딩 (정부명·연도 치환)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3라운드 반복 측정 → 평균 합의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0점(판단유보) 금지 규칙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배경 정보 주입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64592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신뢰도 지표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수용 기준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Krippendorff's α (T/I/D/E)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Krippendorff's α (CRS)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κ (Lowi 분류)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한계: 인간 코더 준거 부재 → LLM 간 일치 ≠ 인간 전문가 일치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6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지표 1: T/I/D/E Hall 3차수 가중합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640080"/>
                <a:gridCol w="640080"/>
                <a:gridCol w="914400"/>
                <a:gridCol w="1005840"/>
                <a:gridCol w="109728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I⁻+D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가중합/년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지배적 양식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문재인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층화+대체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이재명†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+13.75*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노무현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이명박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박근혜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윤석열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해체+표류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†이재명: 임기 0.8년 잠정 평가. *가중합/년은 임기 초기 극단치로 직접 비교 부적절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3566160"/>
          <a:ext cx="82296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7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지표 2: AGLI 적응적 거버넌스 법제도 지표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  <a:gridCol w="1005840"/>
                <a:gridCol w="1005840"/>
                <a:gridCol w="1005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피드백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시민참여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AI/디지털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(/16)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노무현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이명박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박근혜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문재인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윤석열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이재명†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383280"/>
            <a:ext cx="64008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저량 ≠ 역량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문재인 유량 +6 (최대)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규제자유특구·국민청원·데이터산업법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33832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3383280"/>
            <a:ext cx="64008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주목: 이재명 D4 = 4점 (유일)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3794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AI기본법 시행·전략위·안전연구소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D3 시민참여 1점 (국민청원 폐지 승계)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8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지표 3-4: 적응적 도구 비율 &amp; 위기 대응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Lowi STRICT 적응적 도구 비율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91440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광의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노무현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이명박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박근혜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문재인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윤석열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이재명†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00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595건 중 STRICT 통과 4건(0.7%)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적응적 도구 내장의 희소성 자체가 발견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위기 대응 적절성 점수 (CRS)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5740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위기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문재인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코로나19, 산불, 지진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노무현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조류인플루엔자, 태풍, 카드대란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이재명†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관세, 폭우, 정권공백, 역성장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이명박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금융위기, 천안함, 연평도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박근혜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세월호, MERS, 경주지진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윤석열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이태원, 오송, 잼버리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754880" y="3200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상위(3.40-3.76) vs 하위(2.04-2.07)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위기 대응에서도 리더십 격차 재확인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38862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 → 코로나19 교훈 전이: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박근혜 MERS 실패(CRS 2.07)의 교훈이 문재인 코로나19 대응(CRS 3.76)으로 이어짐 → Argyris &amp; Schon(1978) 이중고리학습의 실증 사례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9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5개 지표 종합 비교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1143000"/>
                <a:gridCol w="1143000"/>
                <a:gridCol w="1143000"/>
                <a:gridCol w="123444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T/I/D/E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문재인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 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(1.5)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 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+0.207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노무현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 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(1.5)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+0.308 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이명박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(4)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(4.5)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 (4)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-0.049 (4)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박근혜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 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(4.5)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 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 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-0.086 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윤석열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 (6)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 (6)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 (6)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+0.030 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이재명†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 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 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*Borda = 순위 합계(낮을수록 상위), 탐색적 참고값. T/I/D/E-AGLI 상관 ρ=0.883으로 이중 반영 가능성 존재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365760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65760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그룹  문재인 · 노무현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023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T/I/D/E·AGLI·CRS 모두 상위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2차수 도구 혁신이 핵심 차이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365760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3657600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중위  이명박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4023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금융위기 대응 CRS 강점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AGLI 유량 0, 제도 기여 제한적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65760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65760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그룹  박근혜 · 윤석열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4023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붕괴 경험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국정농단(내부) vs 비상계엄(외부)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10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ACW 6차원 적응역량 프로파일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005840"/>
                <a:gridCol w="1005840"/>
                <a:gridCol w="1005840"/>
                <a:gridCol w="100584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노무현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이명박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박근혜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문재인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윤석열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이재명†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다양성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학습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 자율적 변화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리더십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자원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 공정 거버넌스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패턴  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유사한 법적 기반(AGLI 저량 10-12)을 가진 문재인·윤석열 정부의 차이는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인프라가 아닌 리더십(Le) 차원에서 발생 (Le2·Le3·Le4에서 3-4점 격차)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박근혜·윤석열: V·Lc·RAC·Le 4개 차원 "약점" → 거버넌스 붕괴의 다차원적 영향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11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이재명: 지방정부 적응적 거버넌스 평가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 주요 지표 비교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4297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60120"/>
                <a:gridCol w="105156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성남시장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(2010-18)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경기도지사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(2018-22)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대통령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(2025-, 잠정)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T/I/D/E 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ACW 합의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+1.24 (19/22)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+1.31 (20/22)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+0.86 (22/22)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Le1 비전 제시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Le2 기업가적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Le3 협력적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시민참여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적응적 도구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 (E5)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 (E5)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 (STRICT)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 (/8)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61188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스케일·분석 단위 상이 → 순위 비교 아닌 패턴 관찰용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64008" cy="3520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1430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59669"/>
                </a:solidFill>
              </a:rPr>
              <a:t>■ 적응적 정책 — 확인됨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  ○ 청년배당(국내 최초 범주형 기본소득)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  ○ 재난기본소득(전국 최초 광역 재난소득)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  ○ 적응적 도구 비율 E5 = 43~47%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59669"/>
                </a:solidFill>
              </a:rPr>
              <a:t>■ 적응적 리더십 — 확인됨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  ○ Le1·Le2 3역할 모두 만점(+2.00)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  ○ 코로나 시 중앙정부보다 1개월 앞선 재난기본소득 결정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D97706"/>
                </a:solidFill>
              </a:rPr>
              <a:t>■ 적응적 거버넌스 시스템 — 혼재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  ○ 성남시의료원(법인) → 후임 시장 하 존속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C2626"/>
                </a:solidFill>
              </a:rPr>
              <a:t>  ○ 성남 청년배당(조례) → 7년 만 폐지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  ○ Le3 협력적 리더십: Le1·Le2 대비 일관된 열위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3B82F6"/>
                </a:solidFill>
              </a:rPr>
              <a:t>→ 핵심 변수는 법형식(조례 vs 법인)보다 정치적 연속성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과제: 개인 리더십에 의존하는 적응적 정책이 아니라, 정권 교체에도 작동하는 적응적 거버넌스 시스템(법률·독립 기관·시민참여·학습 환류)의 제도화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이석민 · 한신대학교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발견 및 논의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520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■ 발견 1: 제도 축적의 역설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AGLI 저량은 단조 증가(6→6→6→12→10→11)하나, 적응 역량은 비례하지 않음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저량 10인 윤석열 정부의 T/I/D/E 가중합 = -7 (전 정부 최저)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■ 발견 2: 2차수 도구 혁신이 관건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2차수 I = 0인 정부(박근혜·윤석열) → 가중합 음(–)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문재인 2차수 I = 5건(최대), 이재명 3건 → 적응 역량의 핵심 동력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■ 발견 3: 3차수 변동의 극단적 희소성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6개 정부 전체에서 3차수 코딩 = 윤석열 비상계엄+탄핵 2건뿐 (모두 I⁻)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Hall(1993) 예측 — "극히 드물고 위기에 의해 촉발" — 과 일치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■ 발견 4: 리더십이 제도를 작동시킨다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유사한 법적 기반(AGLI 저량 10-12)을 가진 문재인·윤석열의 격차는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   인프라가 아닌 리더십(Le) 차원에서 발생 (Le2·Le3·Le4에서 3-4점 격차)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1E293B"/>
                </a:solidFill>
              </a:rPr>
              <a:t>  ○ 제도를 축적하는 것보다 작동시키는 리더십이 적응 역량을 좌우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후속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한국의 적응적 거버넌스는 제도의 양 자체보다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제도를 실제로 작동시키는 리더십의 질에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크게 좌우되었다.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365760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한계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N=6 → 통계적 추론 불가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인간 코더 준거 부재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이재명 정부: 임기 0.8년 잠정치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T/I/D/E–AGLI 구성적 중복 (ρ=0.883)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365760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연구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7889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인간 코더 패널 T/I/D/E 재검증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OECD 기후 적응 국제 비교 확장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D3 시민참여 법제화 검토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이석민  |  한신대학교 공공인재빅데이터융합  |  newmind68@hs.ac.kr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 정부의 적응적 거버넌스 비교연구</dc:title>
  <dc:subject>PptxGenJS Presentation</dc:subject>
  <dc:creator>이석민</dc:creator>
  <cp:lastModifiedBy>이석민</cp:lastModifiedBy>
  <cp:revision>1</cp:revision>
  <dcterms:created xsi:type="dcterms:W3CDTF">2026-04-04T14:55:36Z</dcterms:created>
  <dcterms:modified xsi:type="dcterms:W3CDTF">2026-04-04T14:55:36Z</dcterms:modified>
</cp:coreProperties>
</file>